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Nunito"/>
      <p:regular r:id="rId12"/>
      <p:bold r:id="rId13"/>
      <p:italic r:id="rId14"/>
      <p:boldItalic r:id="rId15"/>
    </p:embeddedFont>
    <p:embeddedFont>
      <p:font typeface="Maven Pro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Nunito-bold.fntdata"/><Relationship Id="rId12" Type="http://schemas.openxmlformats.org/officeDocument/2006/relationships/font" Target="fonts/Nuni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boldItalic.fntdata"/><Relationship Id="rId14" Type="http://schemas.openxmlformats.org/officeDocument/2006/relationships/font" Target="fonts/Nunito-italic.fntdata"/><Relationship Id="rId17" Type="http://schemas.openxmlformats.org/officeDocument/2006/relationships/font" Target="fonts/MavenPro-bold.fntdata"/><Relationship Id="rId16" Type="http://schemas.openxmlformats.org/officeDocument/2006/relationships/font" Target="fonts/MavenPr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f9916bdcac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f9916bdcac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f9916bdca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f9916bdca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f9916bdca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f9916bdca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f9916bdcac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f9916bdcac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f9916bdcac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f9916bdcac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704925" y="113756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FlowSync: Intelligent Real-Time Streaming Analytics </a:t>
            </a:r>
            <a:endParaRPr/>
          </a:p>
        </p:txBody>
      </p:sp>
      <p:sp>
        <p:nvSpPr>
          <p:cNvPr id="278" name="Google Shape;278;p13"/>
          <p:cNvSpPr txBox="1"/>
          <p:nvPr>
            <p:ph idx="4294967295" type="title"/>
          </p:nvPr>
        </p:nvSpPr>
        <p:spPr>
          <a:xfrm>
            <a:off x="5713800" y="3422350"/>
            <a:ext cx="3168600" cy="48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MEMBERS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13"/>
          <p:cNvSpPr txBox="1"/>
          <p:nvPr>
            <p:ph idx="4294967295" type="body"/>
          </p:nvPr>
        </p:nvSpPr>
        <p:spPr>
          <a:xfrm>
            <a:off x="5743950" y="3904450"/>
            <a:ext cx="3108300" cy="10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1"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420090099 - Y.Nihitha</a:t>
            </a:r>
            <a:br>
              <a:rPr b="1"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2420030523 - S.Harini</a:t>
            </a:r>
            <a:br>
              <a:rPr b="1"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2420090117 - A. Sri Anitha</a:t>
            </a:r>
            <a:endParaRPr b="1"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3"/>
          <p:cNvSpPr txBox="1"/>
          <p:nvPr/>
        </p:nvSpPr>
        <p:spPr>
          <a:xfrm>
            <a:off x="328025" y="3795925"/>
            <a:ext cx="4075200" cy="7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the guidance of:</a:t>
            </a:r>
            <a:endParaRPr sz="1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N Shirisha</a:t>
            </a:r>
            <a:endParaRPr sz="2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Associate Professor</a:t>
            </a:r>
            <a:endParaRPr sz="2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3"/>
          <p:cNvSpPr txBox="1"/>
          <p:nvPr/>
        </p:nvSpPr>
        <p:spPr>
          <a:xfrm>
            <a:off x="7152200" y="63500"/>
            <a:ext cx="19917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 Code: 24DEA3101</a:t>
            </a:r>
            <a:endParaRPr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4"/>
          <p:cNvSpPr txBox="1"/>
          <p:nvPr>
            <p:ph idx="1" type="body"/>
          </p:nvPr>
        </p:nvSpPr>
        <p:spPr>
          <a:xfrm>
            <a:off x="1202450" y="826325"/>
            <a:ext cx="7732200" cy="45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2800"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FlowSync: Intelligent Real-Time Streaming Analytics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an end-to-end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Engineering for AI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platform designed to process continuously generated data with minimal latency. The proposed system collects streaming events from sources such as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IoT devices, application logs, and transaction systems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and processes them using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Apache Kafka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Apache Spark Structured Streaming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pipeline performs essential operations including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validation, cleaning, duplicate detection, transformation, filtering, and real-time aggregation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produce reliable and AI-ready data. Processed data is stored using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MinIO as a local S3-compatible data lake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Apache Parquet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PostgreSQL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structured analytics.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AI/ML layer using Scikit-learn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incorporated to detect anomalies and unusual patterns in streaming data.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FastAPI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provides access to analytical results, while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Grafana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enables real-time visualization and monitoring. The complete system uses free and open-source technologies and can be deployed locally using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Docker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Overall, FlowSync demonstrates how real-time data engineering can transform raw streaming data into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reliable insights and AI-driven decision support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4"/>
          <p:cNvSpPr txBox="1"/>
          <p:nvPr/>
        </p:nvSpPr>
        <p:spPr>
          <a:xfrm>
            <a:off x="7019575" y="0"/>
            <a:ext cx="2124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 Code: 24DEA3101</a:t>
            </a:r>
            <a:endParaRPr sz="13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5"/>
          <p:cNvSpPr txBox="1"/>
          <p:nvPr>
            <p:ph idx="1" type="body"/>
          </p:nvPr>
        </p:nvSpPr>
        <p:spPr>
          <a:xfrm>
            <a:off x="1278075" y="844550"/>
            <a:ext cx="7256700" cy="3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3250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1" sz="32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the rapid growth of </a:t>
            </a:r>
            <a:r>
              <a:rPr b="1" lang="en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IoT devices, applications, digital transactions, and connected services</a:t>
            </a:r>
            <a:r>
              <a:rPr lang="en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data is being generated continuously and at high speed. This growing volume of streaming data creates a need for systems that can process information </a:t>
            </a:r>
            <a:r>
              <a:rPr b="1" lang="en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quickly, reliably, and with minimal delay</a:t>
            </a:r>
            <a:r>
              <a:rPr lang="en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Traditional batch-based processing can delay important insights, making it less suitable for applications such as </a:t>
            </a:r>
            <a:r>
              <a:rPr b="1" lang="en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monitoring, anomaly detection, fraud detection, and operational decision-making</a:t>
            </a:r>
            <a:r>
              <a:rPr lang="en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FlowSync</a:t>
            </a:r>
            <a:r>
              <a:rPr lang="en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proposes an end-to-end </a:t>
            </a:r>
            <a:r>
              <a:rPr b="1" lang="en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data engineering pipeline</a:t>
            </a:r>
            <a:r>
              <a:rPr lang="en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that continuously ingests, validates, cleans, transforms, stores, and analyzes streaming data. The system aims to convert raw streaming events into </a:t>
            </a:r>
            <a:r>
              <a:rPr b="1" lang="en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reliable, AI-ready data</a:t>
            </a:r>
            <a:r>
              <a:rPr lang="en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real-time analytics and intelligent decision-making.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t/>
            </a:r>
            <a:endParaRPr b="1"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6"/>
          <p:cNvSpPr txBox="1"/>
          <p:nvPr>
            <p:ph type="title"/>
          </p:nvPr>
        </p:nvSpPr>
        <p:spPr>
          <a:xfrm>
            <a:off x="1160625" y="31832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PROPOSED SOLUTION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8" name="Google Shape;298;p16"/>
          <p:cNvSpPr txBox="1"/>
          <p:nvPr>
            <p:ph idx="1" type="body"/>
          </p:nvPr>
        </p:nvSpPr>
        <p:spPr>
          <a:xfrm>
            <a:off x="1160625" y="961600"/>
            <a:ext cx="7837500" cy="390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b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FlowSync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real-time data engineering platform designed to handle continuously generated data and convert it into reliable, analysis-ready information for AI-driven applications.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SzPts val="770"/>
              <a:buNone/>
            </a:pPr>
            <a:r>
              <a:rPr b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 Capabilities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</a:t>
            </a:r>
            <a:r>
              <a:rPr b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Data Ingestion</a:t>
            </a:r>
            <a:br>
              <a:rPr b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Collects continuously generated data from IoT devices, application logs, transactions, and simulated events.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</a:t>
            </a:r>
            <a:r>
              <a:rPr b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Processing &amp; Transformation</a:t>
            </a:r>
            <a:br>
              <a:rPr b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Performs validation, cleaning, filtering, transformation, and aggregation of incoming data.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</a:t>
            </a:r>
            <a:r>
              <a:rPr b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Quality Management</a:t>
            </a:r>
            <a:br>
              <a:rPr b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Handles missing values, duplicate records, invalid entries, and inconsistent data formats.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</a:t>
            </a:r>
            <a:r>
              <a:rPr b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Scalable Data Storage</a:t>
            </a:r>
            <a:br>
              <a:rPr b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Stores raw and processed datasets using a local data lake and structured database.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</a:t>
            </a:r>
            <a:r>
              <a:rPr b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AI-Driven Analytics</a:t>
            </a:r>
            <a:br>
              <a:rPr b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machine learning techniques to identify anomalies and unusual patterns in processed data.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</a:t>
            </a:r>
            <a:r>
              <a:rPr b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Monitoring</a:t>
            </a:r>
            <a:br>
              <a:rPr b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analytical results and system metrics through APIs and interactive dashboards.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9" name="Google Shape;299;p16"/>
          <p:cNvSpPr txBox="1"/>
          <p:nvPr/>
        </p:nvSpPr>
        <p:spPr>
          <a:xfrm>
            <a:off x="7055725" y="0"/>
            <a:ext cx="2088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 Code: 24DEA3101</a:t>
            </a:r>
            <a:endParaRPr sz="13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7"/>
          <p:cNvSpPr txBox="1"/>
          <p:nvPr>
            <p:ph idx="1" type="body"/>
          </p:nvPr>
        </p:nvSpPr>
        <p:spPr>
          <a:xfrm>
            <a:off x="1244300" y="462975"/>
            <a:ext cx="7784700" cy="464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1200">
                <a:latin typeface="Times New Roman"/>
                <a:ea typeface="Times New Roman"/>
                <a:cs typeface="Times New Roman"/>
                <a:sym typeface="Times New Roman"/>
              </a:rPr>
              <a:t>TECHNOLOGY STACK</a:t>
            </a:r>
            <a:endParaRPr b="1" sz="1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Programming &amp; Development</a:t>
            </a:r>
            <a:br>
              <a:rPr b="1" lang="en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 • Git • GitHub</a:t>
            </a:r>
            <a:endParaRPr sz="4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Data Ingestion</a:t>
            </a:r>
            <a:br>
              <a:rPr b="1" lang="en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Apache Kafka</a:t>
            </a:r>
            <a:endParaRPr sz="4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Stream Processing</a:t>
            </a:r>
            <a:br>
              <a:rPr b="1" lang="en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Apache Spark Structured Streaming • PySpark</a:t>
            </a:r>
            <a:endParaRPr sz="4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Quality &amp; Transformation</a:t>
            </a:r>
            <a:br>
              <a:rPr b="1" lang="en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Great Expectations • PySpark</a:t>
            </a:r>
            <a:endParaRPr sz="4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Storage</a:t>
            </a:r>
            <a:br>
              <a:rPr b="1" lang="en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MinIO (S3-Compatible Data Lake) • PostgreSQL • Apache Parquet</a:t>
            </a:r>
            <a:endParaRPr sz="4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/ Machine Learning</a:t>
            </a:r>
            <a:br>
              <a:rPr b="1" lang="en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Scikit-learn</a:t>
            </a:r>
            <a:endParaRPr sz="4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 &amp; Visualization</a:t>
            </a:r>
            <a:br>
              <a:rPr b="1" lang="en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FastAPI • Grafana</a:t>
            </a:r>
            <a:endParaRPr sz="4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Containerization</a:t>
            </a:r>
            <a:br>
              <a:rPr b="1" lang="en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Docker </a:t>
            </a:r>
            <a:endParaRPr sz="4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7"/>
          <p:cNvSpPr txBox="1"/>
          <p:nvPr/>
        </p:nvSpPr>
        <p:spPr>
          <a:xfrm>
            <a:off x="6738925" y="142875"/>
            <a:ext cx="2103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 Code: 24DEA3101</a:t>
            </a:r>
            <a:endParaRPr sz="13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8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12" name="Google Shape;31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